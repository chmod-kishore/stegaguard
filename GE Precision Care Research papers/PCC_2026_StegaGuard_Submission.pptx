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871C0-8BEE-4F2C-9BA2-9663CC719E2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771B-BEB5-4FB3-B61F-E76DEDD33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272-1B98-7756-B21D-54AAC768F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5F1B-4535-A2CC-2E76-4C3E08A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326F-9633-C770-4B8F-7702EBEF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5CEE-93A8-E77E-6149-12E0B72E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4CE0A-13B3-E099-E264-C749A7B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EDA-F949-7762-7345-3EC6336A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A73D-C754-E2B5-B616-EE14804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5502-7739-DABC-1D3C-EC9EE6EF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BC613-DEAF-0DBB-2AA4-0A2804E3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2A365-36F6-273A-E85F-BE3BCFA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C3A-3FE1-0608-AF69-62F314B8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7BFE7-64BF-F955-094B-CA2D54AD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1B074-72EE-75D3-1713-81A7286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CCFA-1C8C-CAA4-A448-D1FD6D9D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3996-BA9A-1D0B-135F-621431AB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6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690F-9551-239D-5BE0-BB7D7E6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0743-FEC6-B634-E47C-2987E923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011FE-B5BC-2B1A-0E68-A1AA89031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F7494-671A-302E-FF25-F0539C40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A0D23-4063-0C13-5F2E-5877DB79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E66-F455-7267-A757-23F63A21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1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B620-4238-7450-B7BC-8A6EA49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7683-D4EF-2932-696B-91C26373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9DB-B890-C5C4-54FD-A2AB329D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CF46-E11B-100C-6B4F-FB77397BB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EB23-E520-032B-ECF0-C43E6673B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C44EB-328B-4AD2-5360-ECDFC497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424E9-59CD-981C-46F0-CC55DFE5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DAEA-7228-8F58-41E8-8B79C6E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9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E66-949C-AC89-6293-B7A652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3521A-E520-485D-AD89-7160A045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42267-8C95-AF4C-3D24-656E66D7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2F4F-E0A7-505D-B933-0946FE12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EEB1B-8DB2-5E31-79ED-CDE4854D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F6A68-F836-43CF-B9BA-0517B5FD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9473-7CFF-9FF1-EBDE-A4075A96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F25-1B80-BD56-5515-20E9EE0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CBF-D5F2-3396-AB47-A27716D1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207F9-5A0E-F62C-4DA1-4DCB33A1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DB421-A61B-A0DB-D6D7-311EE5A1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9CE3C-D57C-0257-F894-2D6A0B88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BD095-FCD1-90DA-7B92-6409F2C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42A-5BB7-2BA1-A4F3-94EB9E8B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38CC8-3D10-819F-0FB9-BEF0A103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A2A6-26B8-2245-BD02-03BC123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E48A9-22F3-816D-263C-E6D870ED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A7162-128A-A367-07B3-7EE66B6D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A55A-9700-199B-4EAC-4DA03BE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EF5-A1E3-0C1C-2C6E-142BA128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5151-E340-3CEB-4AFA-7C5714CD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08C60-E7E8-81EA-A947-47256BC3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A804-05B2-EE20-D132-C0DECA6F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8010-95BD-A089-B2CF-B4AF734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232CA-53A0-450B-6F51-AB548EF1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6648-C986-9603-5B32-52BCDD9F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EA637-E232-A575-29D6-B4EEDF7A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F9487-326B-7ECC-D7A1-7BE136C0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B21-880F-CDC8-E646-6D4260D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38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6AD6-6273-F245-1B4D-3F28F5ED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F935-570D-F9DE-AA2F-2A8E4ECB0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F35A-7F0F-1AC4-4E86-1D90A0E70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48B0D-38BA-D763-AE90-58B9068CB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6088-B3A2-F26B-E57E-9062E942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C804C-731B-2B87-7876-5858CC6493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0100" y="6642100"/>
            <a:ext cx="4572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-Public-</a:t>
            </a:r>
          </a:p>
        </p:txBody>
      </p:sp>
    </p:spTree>
    <p:extLst>
      <p:ext uri="{BB962C8B-B14F-4D97-AF65-F5344CB8AC3E}">
        <p14:creationId xmlns:p14="http://schemas.microsoft.com/office/powerpoint/2010/main" val="37304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Precision Care Challenge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63666A"/>
                </a:solidFill>
              </a:rPr>
              <a:t>Detection of Steganographic Malware
Hidden in AI Model Weights</a:t>
            </a:r>
          </a:p>
          <a:p>
            <a:pPr>
              <a:spcBef>
                <a:spcPts val="2000"/>
              </a:spcBef>
            </a:pPr>
            <a:r>
              <a:rPr sz="1800" b="1">
                <a:solidFill>
                  <a:srgbClr val="00B0F0"/>
                </a:solidFill>
              </a:rPr>
              <a:t>
Phase 1 – Idea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666A"/>
                </a:solidFill>
                <a:latin typeface="Calibri"/>
              </a:rPr>
              <a:t>Explain The Problem You Are Attempting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60" y="1050000"/>
            <a:ext cx="108756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B0F0"/>
                </a:solidFill>
                <a:latin typeface="Calibri"/>
              </a:rPr>
              <a:t>The AI Supply-Chain Threat: Weaponized Model Weights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63666A"/>
                </a:solidFill>
                <a:latin typeface="Calibri"/>
              </a:rPr>
              <a:t>Pre-trained AI models are shared across public repositories (Hugging Face, PyTorch Hub, TensorFlow Hub) and internal enterprise pipelines. This creates a critical supply-chain vulnerability: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3666A"/>
                </a:solidFill>
                <a:latin typeface="Calibri"/>
              </a:rPr>
              <a:t>• Adversaries can embed malware, backdoor triggers, and data exfiltration payloads directly into neural network weight parameters using steganographic techniques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3666A"/>
                </a:solidFill>
                <a:latin typeface="Calibri"/>
              </a:rPr>
              <a:t>• Malicious models pass standard evaluation — accuracy, loss metrics remain unchanged while harboring hidden payloads (EvilModel demonstrated 36.9MB malware in AlexNet with 0% accuracy loss)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3666A"/>
                </a:solidFill>
                <a:latin typeface="Calibri"/>
              </a:rPr>
              <a:t>• No existing security scanner checks model weights for steganographic content — current antivirus tools scan file formats, not mathematical parameters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3666A"/>
                </a:solidFill>
                <a:latin typeface="Calibri"/>
              </a:rPr>
              <a:t>• A single compromised model on Hugging Face (500K+ monthly downloads for popular models) could constitute a massive supply-chain attack vector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3666A"/>
                </a:solidFill>
                <a:latin typeface="Calibri"/>
              </a:rPr>
              <a:t>• Attack surface is growing: LSB manipulation can embed 1 bit per parameter — a 100M-parameter model offers ~12MB of covert storage capacity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E03E2D"/>
                </a:solidFill>
                <a:latin typeface="Calibri"/>
              </a:rPr>
              <a:t>Severity: </a:t>
            </a:r>
            <a:r>
              <a:rPr sz="1300">
                <a:solidFill>
                  <a:srgbClr val="63666A"/>
                </a:solidFill>
                <a:latin typeface="Calibri"/>
              </a:rPr>
              <a:t>CRITICAL — Affects healthcare AI, autonomous systems, financial models, and any organization consuming third-party AI models. A steganographic implant in a radiology model could exfiltrate patient data or alter diagnoses under specific trigger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3666A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66A"/>
                </a:solidFill>
                <a:latin typeface="Calibri"/>
              </a:rPr>
              <a:t>3 August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666A"/>
                </a:solidFill>
                <a:latin typeface="Calibri"/>
              </a:rPr>
              <a:t>Briefly Explain Your Idea/Solution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60" y="1000000"/>
            <a:ext cx="108756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B0F0"/>
                </a:solidFill>
                <a:latin typeface="Calibri"/>
              </a:rPr>
              <a:t>StegaGuard: AI Model Weight Integrity Scanner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63666A"/>
                </a:solidFill>
                <a:latin typeface="Calibri"/>
              </a:rPr>
              <a:t>A multi-layered security analysis tool that inspects AI model weights and metadata to detect steganographic payloads, statistical anomalies, and backdoor indicators — acting as an "antivirus for AI models" in the deployment pipeline.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63666A"/>
                </a:solidFill>
                <a:latin typeface="Calibri"/>
              </a:rPr>
              <a:t>Four Detection Pillars: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63666A"/>
                </a:solidFill>
                <a:latin typeface="Calibri"/>
              </a:rPr>
              <a:t>1. Statistical Weight Analysis: </a:t>
            </a:r>
            <a:r>
              <a:rPr sz="1300">
                <a:solidFill>
                  <a:srgbClr val="63666A"/>
                </a:solidFill>
                <a:latin typeface="Calibri"/>
              </a:rPr>
              <a:t>Detect abnormal distributions, entropy spikes, kurtosis anomalies, and unusual precision patterns in weight tensors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63666A"/>
                </a:solidFill>
                <a:latin typeface="Calibri"/>
              </a:rPr>
              <a:t>2. LSB Steganography Detection: </a:t>
            </a:r>
            <a:r>
              <a:rPr sz="1300">
                <a:solidFill>
                  <a:srgbClr val="63666A"/>
                </a:solidFill>
                <a:latin typeface="Calibri"/>
              </a:rPr>
              <a:t>Analyze least-significant bits of floating-point parameters for hidden bit patterns, ASCII signatures, or structured data encoding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63666A"/>
                </a:solidFill>
                <a:latin typeface="Calibri"/>
              </a:rPr>
              <a:t>3. Behavioral Anomaly Detection: </a:t>
            </a:r>
            <a:r>
              <a:rPr sz="1300">
                <a:solidFill>
                  <a:srgbClr val="63666A"/>
                </a:solidFill>
                <a:latin typeface="Calibri"/>
              </a:rPr>
              <a:t>Test model responses to adversarial/trigger inputs; detect covert activation channels and hidden output behaviors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63666A"/>
                </a:solidFill>
                <a:latin typeface="Calibri"/>
              </a:rPr>
              <a:t>4. Comparative Fingerprinting: </a:t>
            </a:r>
            <a:r>
              <a:rPr sz="1300">
                <a:solidFill>
                  <a:srgbClr val="63666A"/>
                </a:solidFill>
                <a:latin typeface="Calibri"/>
              </a:rPr>
              <a:t>Compare weight characteristics against known-clean reference models to identify suspicious deviations layer-by-layer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63666A"/>
                </a:solidFill>
                <a:latin typeface="Calibri"/>
              </a:rPr>
              <a:t>Output: </a:t>
            </a:r>
            <a:r>
              <a:rPr sz="1400">
                <a:solidFill>
                  <a:srgbClr val="63666A"/>
                </a:solidFill>
                <a:latin typeface="Calibri"/>
              </a:rPr>
              <a:t>Per-model Risk Score (0–100) with explainable layer-level alerts and human-readable security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5045126"/>
            <a:ext cx="10468378" cy="33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3666A"/>
                </a:solidFill>
                <a:latin typeface="Calibri"/>
              </a:rPr>
              <a:t>Is Your Idea unique or is an improvisation of an existing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5450000"/>
            <a:ext cx="1046837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0F0"/>
                </a:solidFill>
                <a:latin typeface="Calibri"/>
              </a:rPr>
              <a:t>Novel integration: </a:t>
            </a:r>
            <a:r>
              <a:rPr sz="1300">
                <a:solidFill>
                  <a:srgbClr val="63666A"/>
                </a:solidFill>
                <a:latin typeface="Calibri"/>
              </a:rPr>
              <a:t>While individual techniques (steganalysis, weight analysis) exist in academic research, no unified tool combines all four detection pillars into a deployable security scanner. StegaGuard is the first purpose-built "CI/CD security gate" specifically targeting steganographic threats in AI model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3666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66A"/>
                </a:solidFill>
                <a:latin typeface="Calibri"/>
              </a:rPr>
              <a:t>3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666A"/>
                </a:solidFill>
                <a:latin typeface="Calibri"/>
              </a:rPr>
              <a:t>Explain Your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808" y="950000"/>
            <a:ext cx="10866913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B0F0"/>
                </a:solidFill>
                <a:latin typeface="Calibri"/>
              </a:rPr>
              <a:t>Solution Architecture — Pipeline-Based Security Scanner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63666A"/>
                </a:solidFill>
                <a:latin typeface="Calibri"/>
              </a:rPr>
              <a:t>Model Intake → Format Parser → Statistical Analyzer → Stego Detector → Behavioral Tester → Risk Scorer → Report Generator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63666A"/>
                </a:solidFill>
                <a:latin typeface="Calibri"/>
              </a:rPr>
              <a:t>Key Detection Methods: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63666A"/>
                </a:solidFill>
                <a:latin typeface="Calibri"/>
              </a:rPr>
              <a:t>• Entropy Analysis: Compute Shannon entropy per layer; steganographic embedding increases entropy in affected parameters (clean models show characteristic Gaussian distributions)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63666A"/>
                </a:solidFill>
                <a:latin typeface="Calibri"/>
              </a:rPr>
              <a:t>• LSB Frequency Analysis: Extract LSBs from float32/float16 weights; detect non-random patterns using chi-squared test and serial correlation (EvilModel/StegoFL use LSB replacement)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63666A"/>
                </a:solidFill>
                <a:latin typeface="Calibri"/>
              </a:rPr>
              <a:t>• Weight Distribution Profiling: Compare kurtosis, skewness, and histogram shapes against baseline distributions for each layer type (Conv2D, Dense, Attention)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63666A"/>
                </a:solidFill>
                <a:latin typeface="Calibri"/>
              </a:rPr>
              <a:t>• Trigger Detection: Apply Neural Cleanse-inspired optimization to identify potential trigger patterns that cause anomalous activations in specific neurons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63666A"/>
                </a:solidFill>
                <a:latin typeface="Calibri"/>
              </a:rPr>
              <a:t>• Metadata Inspection: Scan serialization format (pickle/safetensors) for code injection, verify checksums, detect unusual file structure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63666A"/>
                </a:solidFill>
                <a:latin typeface="Calibri"/>
              </a:rPr>
              <a:t>Advantages Over Conventional Approaches: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9645"/>
                </a:solidFill>
                <a:latin typeface="Calibri"/>
              </a:rPr>
              <a:t>  ✓ Vs. Traditional Antivirus: Understands model weight semantics, not just file signatures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9645"/>
                </a:solidFill>
                <a:latin typeface="Calibri"/>
              </a:rPr>
              <a:t>  ✓ Vs. Model Retraining: No training data needed; works as a post-hoc scan on any downloaded model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9645"/>
                </a:solidFill>
                <a:latin typeface="Calibri"/>
              </a:rPr>
              <a:t>  ✓ Vs. Sandboxing: Detects dormant payloads before execution, not just runtime behavior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9645"/>
                </a:solidFill>
                <a:latin typeface="Calibri"/>
              </a:rPr>
              <a:t>  ✓ Vs. Format Scanners (e.g., Fickling): Goes beyond pickle exploits to detect steganographic embedding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63666A"/>
                </a:solidFill>
                <a:latin typeface="Calibri"/>
              </a:rPr>
              <a:t>Tech Stack: </a:t>
            </a:r>
            <a:r>
              <a:rPr sz="1200">
                <a:solidFill>
                  <a:srgbClr val="63666A"/>
                </a:solidFill>
                <a:latin typeface="Calibri"/>
              </a:rPr>
              <a:t>Python | PyTorch/TensorFlow | NumPy/SciPy (statistical analysis) | scikit-learn (anomaly classifier) | Streamlit (dashboard 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3666A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66A"/>
                </a:solidFill>
                <a:latin typeface="Calibri"/>
              </a:rPr>
              <a:t>3 August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666A"/>
                </a:solidFill>
                <a:latin typeface="Calibri"/>
              </a:rPr>
              <a:t>Additional Information /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3666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66A"/>
                </a:solidFill>
                <a:latin typeface="Calibri"/>
              </a:rPr>
              <a:t>3 August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000000"/>
            <a:ext cx="1800000" cy="9000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
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0000" y="1000000"/>
            <a:ext cx="1800000" cy="9000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Statistical
Analyzer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0000" y="1000000"/>
            <a:ext cx="1800000" cy="9000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Stego
Detector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0000" y="1000000"/>
            <a:ext cx="1800000" cy="9000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Behavioral
Tester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0000" y="1000000"/>
            <a:ext cx="1800000" cy="9000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Risk Score
&amp; Report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0000" y="1400000"/>
            <a:ext cx="100000" cy="100000"/>
          </a:xfrm>
          <a:prstGeom prst="rightArrow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350000" y="1400000"/>
            <a:ext cx="100000" cy="100000"/>
          </a:xfrm>
          <a:prstGeom prst="rightArrow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350000" y="1400000"/>
            <a:ext cx="100000" cy="100000"/>
          </a:xfrm>
          <a:prstGeom prst="rightArrow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350000" y="1400000"/>
            <a:ext cx="100000" cy="100000"/>
          </a:xfrm>
          <a:prstGeom prst="rightArrow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20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63666A"/>
                </a:solidFill>
                <a:latin typeface="Calibri"/>
              </a:rPr>
              <a:t>.pt .h5 .onnx .safetensors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60" y="2500000"/>
            <a:ext cx="10866913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6A"/>
                </a:solidFill>
                <a:latin typeface="Calibri"/>
              </a:rPr>
              <a:t>Model Risk Score Formula: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B0F0"/>
                </a:solidFill>
                <a:latin typeface="Courier New"/>
              </a:rPr>
              <a:t>Risk = 0.30×(Entropy Anomaly) + 0.25×(LSB Pattern Score) + 0.20×(Distribution Deviation) + 0.15×(Trigger Susceptibility) + 0.10×(Metadata Flags)</a:t>
            </a:r>
          </a:p>
          <a:p>
            <a:pPr>
              <a:spcBef>
                <a:spcPts val="1800"/>
              </a:spcBef>
            </a:pPr>
            <a:r>
              <a:rPr sz="1300" b="1">
                <a:solidFill>
                  <a:srgbClr val="63666A"/>
                </a:solidFill>
                <a:latin typeface="Calibri"/>
              </a:rPr>
              <a:t>Key References: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[1] Wang et al., "EvilModel: Hiding Malware Inside Neural Network Models" — IEEE S&amp;P 2021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[2] Li et al., "Steganalysis of AI Models: LSB Attacks" — IEEE Access 2023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[3] Chen et al., "StegoFL: Steganography &amp; Federated Learning to Transmit Malware" — 2024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[4] Goldstein et al., "Do You Trust Your Model? Emerging Malware Threats in DL" — 2022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[5] Zhao et al., "Toward Detecting Hidden Functionalities in DL Models" — IEEE TDSC 2024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[6] Li et al., "Disarming Attacks Inside Neural Network Models" — ACM CCS 2023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3666A"/>
                </a:solidFill>
                <a:latin typeface="Calibri"/>
              </a:rPr>
              <a:t>[7] Liu et al., "ReFHD-Net: Reversible Functionality Hiding for DNNs" — 2024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9645"/>
                </a:solidFill>
                <a:latin typeface="Calibri"/>
              </a:rPr>
              <a:t>Hackathon Feasibility: </a:t>
            </a:r>
            <a:r>
              <a:rPr sz="1100">
                <a:solidFill>
                  <a:srgbClr val="63666A"/>
                </a:solidFill>
                <a:latin typeface="Calibri"/>
              </a:rPr>
              <a:t>Core statistical + LSB detection in 48hrs. Deployable as CLI tool or CI/CD pre-deployment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GE Inspira Sans</vt:lpstr>
      <vt:lpstr>Times New Roman</vt:lpstr>
      <vt:lpstr>Office Theme</vt:lpstr>
      <vt:lpstr>Precision Care Challenge 2026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Care Challenge 2023</dc:title>
  <dc:creator>Sailesh, Surekha (GE HealthCare)</dc:creator>
  <cp:lastModifiedBy>Shetty, Sheeja</cp:lastModifiedBy>
  <cp:revision>3</cp:revision>
  <dcterms:created xsi:type="dcterms:W3CDTF">2023-07-11T13:48:39Z</dcterms:created>
  <dcterms:modified xsi:type="dcterms:W3CDTF">2026-08-03T06:50:47Z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c574c9-73b0-47a5-a0cf-661fbc02804c_Enabled">
    <vt:lpwstr>true</vt:lpwstr>
  </property>
  <property fmtid="{D5CDD505-2E9C-101B-9397-08002B2CF9AE}" pid="3" name="MSIP_Label_e3c574c9-73b0-47a5-a0cf-661fbc02804c_SetDate">
    <vt:lpwstr>2026-08-03T06:50:02Z</vt:lpwstr>
  </property>
  <property fmtid="{D5CDD505-2E9C-101B-9397-08002B2CF9AE}" pid="4" name="MSIP_Label_e3c574c9-73b0-47a5-a0cf-661fbc02804c_Method">
    <vt:lpwstr>Privileged</vt:lpwstr>
  </property>
  <property fmtid="{D5CDD505-2E9C-101B-9397-08002B2CF9AE}" pid="5" name="MSIP_Label_e3c574c9-73b0-47a5-a0cf-661fbc02804c_Name">
    <vt:lpwstr>Public</vt:lpwstr>
  </property>
  <property fmtid="{D5CDD505-2E9C-101B-9397-08002B2CF9AE}" pid="6" name="MSIP_Label_e3c574c9-73b0-47a5-a0cf-661fbc02804c_SiteId">
    <vt:lpwstr>9a309606-d6ec-4188-a28a-298812b4bbbf</vt:lpwstr>
  </property>
  <property fmtid="{D5CDD505-2E9C-101B-9397-08002B2CF9AE}" pid="7" name="MSIP_Label_e3c574c9-73b0-47a5-a0cf-661fbc02804c_ActionId">
    <vt:lpwstr>c058a829-f1f8-4104-8ea0-5c992c4f1f6b</vt:lpwstr>
  </property>
  <property fmtid="{D5CDD505-2E9C-101B-9397-08002B2CF9AE}" pid="8" name="MSIP_Label_e3c574c9-73b0-47a5-a0cf-661fbc02804c_ContentBits">
    <vt:lpwstr>2</vt:lpwstr>
  </property>
  <property fmtid="{D5CDD505-2E9C-101B-9397-08002B2CF9AE}" pid="9" name="MSIP_Label_e3c574c9-73b0-47a5-a0cf-661fbc02804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-Public-</vt:lpwstr>
  </property>
</Properties>
</file>