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22860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A0AEC0"/>
                </a:solidFill>
                <a:latin typeface="Arial"/>
              </a:defRPr>
            </a:pPr>
            <a:r>
              <a:t>Precision Care Challenge 2026  |  Phase 1 — Idea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StegaGuard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0">
                <a:solidFill>
                  <a:srgbClr val="00F5D4"/>
                </a:solidFill>
                <a:latin typeface="Arial"/>
              </a:defRPr>
            </a:pPr>
            <a:r>
              <a:t>AI Model Weight Integrity 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EC0"/>
                </a:solidFill>
                <a:latin typeface="Arial"/>
              </a:defRPr>
            </a:pPr>
            <a:r>
              <a:t>Automated Steganographic Malware &amp; Backdoor Detection for Healthcare AI Supply Chains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997964" cy="292608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Defensive AI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6644" y="3749039"/>
            <a:ext cx="2852928" cy="292608"/>
          </a:xfrm>
          <a:prstGeom prst="roundRect">
            <a:avLst>
              <a:gd name="adj" fmla="val 5000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Zero-Training-Data Post-Hoc Scan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6732" y="3749039"/>
            <a:ext cx="2075688" cy="292608"/>
          </a:xfrm>
          <a:prstGeom prst="roundRect">
            <a:avLst>
              <a:gd name="adj" fmla="val 50000"/>
            </a:avLst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CI/CD Integration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754880"/>
            <a:ext cx="2194560" cy="73152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76F"/>
                </a:solidFill>
                <a:latin typeface="Arial"/>
              </a:defRPr>
            </a:pPr>
            <a:r>
              <a:t>Untrusted</a:t>
            </a:r>
            <a:br/>
            <a:r>
              <a:t>Model Hub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97680" y="4983480"/>
            <a:ext cx="548640" cy="274320"/>
          </a:xfrm>
          <a:prstGeom prst="right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4754880"/>
            <a:ext cx="2194560" cy="73152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254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5D4"/>
                </a:solidFill>
                <a:latin typeface="Arial"/>
              </a:defRPr>
            </a:pPr>
            <a:r>
              <a:t>StegaGuard</a:t>
            </a:r>
            <a:br/>
            <a:r>
              <a:t>Inspection Gate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98080" y="4983480"/>
            <a:ext cx="548640" cy="274320"/>
          </a:xfrm>
          <a:prstGeom prst="right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4754880"/>
            <a:ext cx="2194560" cy="73152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D6A0"/>
                </a:solidFill>
                <a:latin typeface="Arial"/>
              </a:defRPr>
            </a:pPr>
            <a:r>
              <a:t>Verified Secure</a:t>
            </a:r>
            <a:br/>
            <a:r>
              <a:t>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6B7B93"/>
                </a:solidFill>
                <a:latin typeface="Arial"/>
              </a:defRPr>
            </a:pPr>
            <a:r>
              <a:t>Team: Kishore K  |  GE HealthCare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The AI Supply-Chain Blindspot: Weaponized Model Weights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274320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577840" cy="539496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F5D4"/>
                </a:solidFill>
                <a:latin typeface="Arial"/>
              </a:defRPr>
            </a:pPr>
            <a:r>
              <a:t>THE THREAT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02920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6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Attack Mechanism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defRPr sz="1000" b="0">
                <a:solidFill>
                  <a:srgbClr val="A0AEC0"/>
                </a:solidFill>
                <a:latin typeface="Arial"/>
              </a:defRPr>
            </a:pPr>
            <a:r>
              <a:t>Malware &amp; covert triggers embedded directly in floating-point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weight tensors via LSB steganography — invisible to standard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evaluation metrics and antivirus scanners.</a:t>
            </a:r>
          </a:p>
          <a:p>
            <a:pPr algn="l">
              <a:lnSpc>
                <a:spcPct val="120000"/>
              </a:lnSpc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8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Empirical Precedent (IEEE S&amp;P 2021)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defRPr sz="1000" b="0">
                <a:solidFill>
                  <a:srgbClr val="A0AEC0"/>
                </a:solidFill>
                <a:latin typeface="Arial"/>
              </a:defRPr>
            </a:pPr>
            <a:r>
              <a:t>EvilModel demonstrated embedding 36.9 MB of malware into a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178 MB AlexNet model with &lt;1% accuracy loss — completely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undetectable by VirusTotal. (Wang et al., 2021)</a:t>
            </a:r>
          </a:p>
          <a:p>
            <a:pPr algn="l">
              <a:lnSpc>
                <a:spcPct val="120000"/>
              </a:lnSpc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800"/>
              </a:spcBef>
              <a:defRPr sz="1200" b="1">
                <a:solidFill>
                  <a:srgbClr val="FFFFFF"/>
                </a:solidFill>
                <a:latin typeface="Arial"/>
              </a:defRPr>
            </a:pPr>
            <a:r>
              <a:t>Why Legacy Security Fails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defRPr sz="1000" b="0">
                <a:solidFill>
                  <a:srgbClr val="A0AEC0"/>
                </a:solidFill>
                <a:latin typeface="Arial"/>
              </a:defRPr>
            </a:pPr>
            <a:r>
              <a:t>• Traditional AV scans file headers, NOT tensor distributions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• Format scanners (Fickling) check pickle bytecode but miss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  mathematical parameter tampering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• Model accuracy tests pass normally — payload is dormant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05840"/>
            <a:ext cx="5577840" cy="539496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0F5D4"/>
                </a:solidFill>
                <a:latin typeface="Arial"/>
              </a:defRPr>
            </a:pPr>
            <a:r>
              <a:t>THREAT MODEL &amp; HEALTHCARE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5029200" cy="2194560"/>
          </a:xfrm>
          <a:prstGeom prst="roundRect">
            <a:avLst>
              <a:gd name="adj" fmla="val 2000"/>
            </a:avLst>
          </a:prstGeom>
          <a:solidFill>
            <a:srgbClr val="0D172E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66344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000" b="1">
                <a:solidFill>
                  <a:srgbClr val="0077B6"/>
                </a:solidFill>
                <a:latin typeface="Arial"/>
              </a:defRPr>
            </a:pPr>
            <a:r>
              <a:t>FORMAL THREAT MODEL</a:t>
            </a:r>
          </a:p>
          <a:p>
            <a:pPr algn="l">
              <a:lnSpc>
                <a:spcPct val="120000"/>
              </a:lnSpc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Adversary Capability: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900" b="0">
                <a:solidFill>
                  <a:srgbClr val="A0AEC0"/>
                </a:solidFill>
                <a:latin typeface="Arial"/>
              </a:defRPr>
            </a:pPr>
            <a:r>
              <a:t>Post-training weight modification / supply-chain tampering</a:t>
            </a:r>
          </a:p>
          <a:p>
            <a:pPr algn="l">
              <a:lnSpc>
                <a:spcPct val="120000"/>
              </a:lnSpc>
              <a:defRPr sz="900" b="0">
                <a:solidFill>
                  <a:srgbClr val="A0AEC0"/>
                </a:solidFill>
                <a:latin typeface="Arial"/>
              </a:defRPr>
            </a:pPr>
            <a:r>
              <a:t>(malicious PRs, weaponized weights on HuggingFace/PyTorch Hub)</a:t>
            </a:r>
          </a:p>
          <a:p>
            <a:pPr algn="l">
              <a:lnSpc>
                <a:spcPct val="120000"/>
              </a:lnSpc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Defender Constraints: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900" b="0">
                <a:solidFill>
                  <a:srgbClr val="A0AEC0"/>
                </a:solidFill>
                <a:latin typeface="Arial"/>
              </a:defRPr>
            </a:pPr>
            <a:r>
              <a:t>Post-hoc pre-deployment gate with ZERO access to original</a:t>
            </a:r>
          </a:p>
          <a:p>
            <a:pPr algn="l">
              <a:lnSpc>
                <a:spcPct val="120000"/>
              </a:lnSpc>
              <a:defRPr sz="900" b="0">
                <a:solidFill>
                  <a:srgbClr val="A0AEC0"/>
                </a:solidFill>
                <a:latin typeface="Arial"/>
              </a:defRPr>
            </a:pPr>
            <a:r>
              <a:t>training data or pipeline (black-box defensive steganalysis)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5029200" cy="2377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1000"/>
              </a:spcBef>
              <a:defRPr sz="1000" b="1">
                <a:solidFill>
                  <a:srgbClr val="EF476F"/>
                </a:solidFill>
                <a:latin typeface="Arial"/>
              </a:defRPr>
            </a:pPr>
            <a:r>
              <a:t>CRITICAL SEVERITY IN PRECISION CARE</a:t>
            </a:r>
          </a:p>
          <a:p>
            <a:pPr algn="l">
              <a:lnSpc>
                <a:spcPct val="120000"/>
              </a:lnSpc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400"/>
              </a:spcBef>
              <a:defRPr sz="1000" b="0">
                <a:solidFill>
                  <a:srgbClr val="A0AEC0"/>
                </a:solidFill>
                <a:latin typeface="Arial"/>
              </a:defRPr>
            </a:pPr>
            <a:r>
              <a:t>A steganographic payload in a radiology classifier (e.g., chest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X-ray ResNet) could stay dormant during standard evaluation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while performing covert actions upon trigger activation:</a:t>
            </a:r>
          </a:p>
          <a:p>
            <a:pPr algn="l">
              <a:lnSpc>
                <a:spcPct val="120000"/>
              </a:lnSpc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400"/>
              </a:spcBef>
              <a:defRPr sz="1000" b="0">
                <a:solidFill>
                  <a:srgbClr val="A0AEC0"/>
                </a:solidFill>
                <a:latin typeface="Arial"/>
              </a:defRPr>
            </a:pPr>
            <a:r>
              <a:t>• Exfiltrate Protected Health Information (PHI/ePHI)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• Alter diagnostic predictions (misclassification attack)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• Execute arbitrary code on inference servers</a:t>
            </a:r>
          </a:p>
          <a:p>
            <a:pPr algn="l">
              <a:lnSpc>
                <a:spcPct val="120000"/>
              </a:lnSpc>
              <a:defRPr sz="1000" b="0">
                <a:solidFill>
                  <a:srgbClr val="A0AEC0"/>
                </a:solidFill>
                <a:latin typeface="Arial"/>
              </a:defRPr>
            </a:pPr>
            <a:r>
              <a:t>• Establish persistent C2 channels through model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6B7B93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StegaGuard Architecture: Multi-Layered Weight Steganalysis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228600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5486400" cy="224028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731520" cy="228600"/>
          </a:xfrm>
          <a:prstGeom prst="roundRect">
            <a:avLst>
              <a:gd name="adj" fmla="val 50000"/>
            </a:avLst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PILLAR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24128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Statistical Weight Profiling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Shannon entropy spikes per layer type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Skewness &amp; kurtosis deviation analysis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Conv2D / Dense / Attention layer profiling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Reference: Zhao et al. (IEEE TDSC, 2024)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914400"/>
            <a:ext cx="5486400" cy="224028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731520" cy="228600"/>
          </a:xfrm>
          <a:prstGeom prst="roundRect">
            <a:avLst>
              <a:gd name="adj" fmla="val 50000"/>
            </a:avLst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PILLAR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024128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LSB Bit-Plane Steganalysis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5029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Chi-square (χ²) randomness test on mantissa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Serial bit correlation (IEEE 754 float32/16)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Bit-plane frequency pattern analysis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Reference: Li et al. (IEEE Access, 2023)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337560"/>
            <a:ext cx="5486400" cy="224028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731520" cy="228600"/>
          </a:xfrm>
          <a:prstGeom prst="roundRect">
            <a:avLst>
              <a:gd name="adj" fmla="val 50000"/>
            </a:avLst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PILLAR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47288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Behavioral Anomaly &amp; Trigger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5029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Neural Cleanse-inspired trigger detection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Covert activation channel optimization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No ground-truth labels required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Reference: Li et al. (ACM CCS, 2023)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337560"/>
            <a:ext cx="5486400" cy="224028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9050">
            <a:solidFill>
              <a:srgbClr val="A88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731520" cy="228600"/>
          </a:xfrm>
          <a:prstGeom prst="roundRect">
            <a:avLst>
              <a:gd name="adj" fmla="val 50000"/>
            </a:avLst>
          </a:prstGeom>
          <a:solidFill>
            <a:srgbClr val="A88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PILLAR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447288"/>
            <a:ext cx="4297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Structural &amp; Metadata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840480"/>
            <a:ext cx="502920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Safetensors/PyTorch header verification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Tensor shape &amp; dtype validation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Payload signature scanning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Reference: Goldstein et al. (2022)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760720"/>
            <a:ext cx="11338560" cy="777240"/>
          </a:xfrm>
          <a:prstGeom prst="roundRect">
            <a:avLst>
              <a:gd name="adj" fmla="val 2000"/>
            </a:avLst>
          </a:prstGeom>
          <a:solidFill>
            <a:srgbClr val="0A1A2A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5870448"/>
            <a:ext cx="1280160" cy="22860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PROTOTYPE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852160"/>
            <a:ext cx="9509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A0AEC0"/>
                </a:solidFill>
                <a:latin typeface="Arial"/>
              </a:defRPr>
            </a:pPr>
            <a:r>
              <a:t>Primary: Medical Imaging CNNs (ResNet-50 / AlexNet / DenseNet) in .safetensors, .pt, .onnx  |  Extensible: Vision Transformers (ViT) &amp; Tabular Dense Networks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6B7B93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Pipeline Architecture &amp; Explainable Scoring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21792"/>
            <a:ext cx="228600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463040" cy="640080"/>
          </a:xfrm>
          <a:prstGeom prst="roundRect">
            <a:avLst>
              <a:gd name="adj" fmla="val 2000"/>
            </a:avLst>
          </a:prstGeom>
          <a:solidFill>
            <a:srgbClr val="16243E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Model</a:t>
            </a:r>
            <a:br/>
            <a:r>
              <a:t>Intake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65960" y="1024128"/>
            <a:ext cx="320040" cy="201168"/>
          </a:xfrm>
          <a:prstGeom prst="right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31720" y="822960"/>
            <a:ext cx="1463040" cy="640080"/>
          </a:xfrm>
          <a:prstGeom prst="roundRect">
            <a:avLst>
              <a:gd name="adj" fmla="val 2000"/>
            </a:avLst>
          </a:prstGeom>
          <a:solidFill>
            <a:srgbClr val="16243E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Tensor</a:t>
            </a:r>
            <a:br/>
            <a:r>
              <a:t>Extraction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40480" y="1024128"/>
            <a:ext cx="320040" cy="201168"/>
          </a:xfrm>
          <a:prstGeom prst="right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822960"/>
            <a:ext cx="1463040" cy="640080"/>
          </a:xfrm>
          <a:prstGeom prst="roundRect">
            <a:avLst>
              <a:gd name="adj" fmla="val 2000"/>
            </a:avLst>
          </a:prstGeom>
          <a:solidFill>
            <a:srgbClr val="16243E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Statistical &amp;</a:t>
            </a:r>
            <a:br/>
            <a:r>
              <a:t>LSB Engine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15000" y="1024128"/>
            <a:ext cx="320040" cy="201168"/>
          </a:xfrm>
          <a:prstGeom prst="right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60" y="822960"/>
            <a:ext cx="1463040" cy="640080"/>
          </a:xfrm>
          <a:prstGeom prst="roundRect">
            <a:avLst>
              <a:gd name="adj" fmla="val 2000"/>
            </a:avLst>
          </a:prstGeom>
          <a:solidFill>
            <a:srgbClr val="16243E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Trigger</a:t>
            </a:r>
            <a:br/>
            <a:r>
              <a:t>Scanner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589520" y="1024128"/>
            <a:ext cx="320040" cy="201168"/>
          </a:xfrm>
          <a:prstGeom prst="right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822960"/>
            <a:ext cx="1463040" cy="640080"/>
          </a:xfrm>
          <a:prstGeom prst="roundRect">
            <a:avLst>
              <a:gd name="adj" fmla="val 2000"/>
            </a:avLst>
          </a:prstGeom>
          <a:solidFill>
            <a:srgbClr val="16243E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Risk</a:t>
            </a:r>
            <a:br/>
            <a:r>
              <a:t>Scorer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1024128"/>
            <a:ext cx="320040" cy="201168"/>
          </a:xfrm>
          <a:prstGeom prst="right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29800" y="822960"/>
            <a:ext cx="1463040" cy="640080"/>
          </a:xfrm>
          <a:prstGeom prst="roundRect">
            <a:avLst>
              <a:gd name="adj" fmla="val 2000"/>
            </a:avLst>
          </a:prstGeom>
          <a:solidFill>
            <a:srgbClr val="16243E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Diagnostic</a:t>
            </a:r>
            <a:br/>
            <a:r>
              <a:t>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691640"/>
            <a:ext cx="6035040" cy="237744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F5D4"/>
                </a:solidFill>
                <a:latin typeface="Arial"/>
              </a:defRPr>
            </a:pPr>
            <a:r>
              <a:t>RISK SCORING FORMULA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057400"/>
            <a:ext cx="56692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800"/>
              </a:spcBef>
              <a:defRPr sz="1100" b="1">
                <a:solidFill>
                  <a:srgbClr val="FFFFFF"/>
                </a:solidFill>
                <a:latin typeface="Consolas"/>
              </a:defRPr>
            </a:pPr>
            <a:r>
              <a:t>Risk Score = 0.30(E_entropy) + 0.25(P_LSB) + 0.20(D_dist)</a:t>
            </a:r>
          </a:p>
          <a:p>
            <a:pPr algn="l">
              <a:lnSpc>
                <a:spcPct val="120000"/>
              </a:lnSpc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         + 0.15(T_trigger) + 0.10(M_meta)</a:t>
            </a:r>
          </a:p>
          <a:p>
            <a:pPr algn="l">
              <a:lnSpc>
                <a:spcPct val="120000"/>
              </a:lnSpc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Triage Thresholds (Score 0–100):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&lt; 25  BENIGN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38328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25–60  ELEVATED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38328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&gt; 60  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6160"/>
            <a:ext cx="56692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800"/>
              </a:spcBef>
              <a:defRPr sz="900" b="1">
                <a:solidFill>
                  <a:srgbClr val="FFFFFF"/>
                </a:solidFill>
                <a:latin typeface="Arial"/>
              </a:defRPr>
            </a:pPr>
            <a:r>
              <a:t>Weight Rationale: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850" b="0">
                <a:solidFill>
                  <a:srgbClr val="A0AEC0"/>
                </a:solidFill>
                <a:latin typeface="Arial"/>
              </a:defRPr>
            </a:pPr>
            <a:r>
              <a:t>30% Entropy — primary statistical fingerprint of steganographic embedding</a:t>
            </a:r>
          </a:p>
          <a:p>
            <a:pPr algn="l">
              <a:lnSpc>
                <a:spcPct val="120000"/>
              </a:lnSpc>
              <a:defRPr sz="850" b="0">
                <a:solidFill>
                  <a:srgbClr val="A0AEC0"/>
                </a:solidFill>
                <a:latin typeface="Arial"/>
              </a:defRPr>
            </a:pPr>
            <a:r>
              <a:t>25% LSB Pattern — direct bit-plane manipulation signature</a:t>
            </a:r>
          </a:p>
          <a:p>
            <a:pPr algn="l">
              <a:lnSpc>
                <a:spcPct val="120000"/>
              </a:lnSpc>
              <a:defRPr sz="850" b="0">
                <a:solidFill>
                  <a:srgbClr val="A0AEC0"/>
                </a:solidFill>
                <a:latin typeface="Arial"/>
              </a:defRPr>
            </a:pPr>
            <a:r>
              <a:t>20% Distribution — deviation from expected weight distributions</a:t>
            </a:r>
          </a:p>
          <a:p>
            <a:pPr algn="l">
              <a:lnSpc>
                <a:spcPct val="120000"/>
              </a:lnSpc>
              <a:defRPr sz="850" b="0">
                <a:solidFill>
                  <a:srgbClr val="A0AEC0"/>
                </a:solidFill>
                <a:latin typeface="Arial"/>
              </a:defRPr>
            </a:pPr>
            <a:r>
              <a:t>15% Trigger — behavioral anomaly indicators</a:t>
            </a:r>
          </a:p>
          <a:p>
            <a:pPr algn="l">
              <a:lnSpc>
                <a:spcPct val="120000"/>
              </a:lnSpc>
              <a:defRPr sz="850" b="0">
                <a:solidFill>
                  <a:srgbClr val="A0AEC0"/>
                </a:solidFill>
                <a:latin typeface="Arial"/>
              </a:defRPr>
            </a:pPr>
            <a:r>
              <a:t>10% Metadata — structural integrity violations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691640"/>
            <a:ext cx="5212080" cy="237744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78308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77B6"/>
                </a:solidFill>
                <a:latin typeface="Arial"/>
              </a:defRPr>
            </a:pPr>
            <a:r>
              <a:t>COMPETITIVE EDGE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14884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50" b="1">
                <a:solidFill>
                  <a:srgbClr val="A0AEC0"/>
                </a:solidFill>
                <a:latin typeface="Arial"/>
              </a:defRPr>
            </a:pPr>
            <a:r>
              <a:t>Capability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14884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50" b="1">
                <a:solidFill>
                  <a:srgbClr val="A0AEC0"/>
                </a:solidFill>
                <a:latin typeface="Arial"/>
              </a:defRPr>
            </a:pPr>
            <a:r>
              <a:t>StegaGuard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14884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50" b="1">
                <a:solidFill>
                  <a:srgbClr val="A0AEC0"/>
                </a:solidFill>
                <a:latin typeface="Arial"/>
              </a:defRPr>
            </a:pPr>
            <a:r>
              <a:t>Trad. AV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148840"/>
            <a:ext cx="914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50" b="1">
                <a:solidFill>
                  <a:srgbClr val="A0AEC0"/>
                </a:solidFill>
                <a:latin typeface="Arial"/>
              </a:defRPr>
            </a:pPr>
            <a:r>
              <a:t>Fickling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148840"/>
            <a:ext cx="640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50" b="1">
                <a:solidFill>
                  <a:srgbClr val="A0AEC0"/>
                </a:solidFill>
                <a:latin typeface="Arial"/>
              </a:defRPr>
            </a:pPr>
            <a:r>
              <a:t>Retrain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377440"/>
            <a:ext cx="1280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A0AEC0"/>
                </a:solidFill>
                <a:latin typeface="Arial"/>
              </a:defRPr>
            </a:pPr>
            <a:r>
              <a:t>Weight-Level</a:t>
            </a:r>
            <a:br/>
            <a:r>
              <a:t>Inspection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377440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6D6A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2377440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76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377440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76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2377440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76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724912"/>
            <a:ext cx="1280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A0AEC0"/>
                </a:solidFill>
                <a:latin typeface="Arial"/>
              </a:defRPr>
            </a:pPr>
            <a:r>
              <a:t>No Training</a:t>
            </a:r>
            <a:br/>
            <a:r>
              <a:t>Data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724912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6D6A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2724912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A0AEC0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2724912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6D6A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2724912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76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072384"/>
            <a:ext cx="1280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A0AEC0"/>
                </a:solidFill>
                <a:latin typeface="Arial"/>
              </a:defRPr>
            </a:pPr>
            <a:r>
              <a:t>Pre-Execution</a:t>
            </a:r>
            <a:br/>
            <a:r>
              <a:t>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072384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6D6A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3072384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6D6A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072384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6D6A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3072384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76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419856"/>
            <a:ext cx="1280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A0AEC0"/>
                </a:solidFill>
                <a:latin typeface="Arial"/>
              </a:defRPr>
            </a:pPr>
            <a:r>
              <a:t>Detects Stego</a:t>
            </a:r>
            <a:br/>
            <a:r>
              <a:t>Payloads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419856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6D6A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3419856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76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3419856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76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3419856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A0AEC0"/>
                </a:solidFill>
                <a:latin typeface="Arial"/>
              </a:defRPr>
            </a:pPr>
            <a:r>
              <a:t>~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0" y="3767328"/>
            <a:ext cx="12801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00" b="0">
                <a:solidFill>
                  <a:srgbClr val="A0AEC0"/>
                </a:solidFill>
                <a:latin typeface="Arial"/>
              </a:defRPr>
            </a:pPr>
            <a:r>
              <a:t>Explainable</a:t>
            </a:r>
            <a:br/>
            <a:r>
              <a:t>Diagnostics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3767328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06D6A0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3767328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76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3767328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76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01400" y="3767328"/>
            <a:ext cx="3657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1">
                <a:solidFill>
                  <a:srgbClr val="EF476F"/>
                </a:solidFill>
                <a:latin typeface="Arial"/>
              </a:defRPr>
            </a:pPr>
            <a:r>
              <a:t>✗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297680"/>
            <a:ext cx="11430000" cy="228600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38912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F5D4"/>
                </a:solidFill>
                <a:latin typeface="Arial"/>
              </a:defRPr>
            </a:pPr>
            <a:r>
              <a:t>PROTOTYPE ARCHITECTURE &amp; TARGET SCOPE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466344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Primary Target (48-Hour Prototype):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Medical Imaging Computer Vision models: ResNet-50, AlexNet, DenseNet</a:t>
            </a:r>
          </a:p>
          <a:p>
            <a:pPr algn="l">
              <a:lnSpc>
                <a:spcPct val="120000"/>
              </a:lnSpc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Format support: PyTorch .pt  |  HuggingFace .safetensors  |  ONNX .onnx</a:t>
            </a:r>
          </a:p>
          <a:p>
            <a:pPr algn="l">
              <a:lnSpc>
                <a:spcPct val="120000"/>
              </a:lnSpc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Extensible Scope (Post-Hackathon Roadmap):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Vision Transformers (ViT) — attention weight analysis</a:t>
            </a:r>
          </a:p>
          <a:p>
            <a:pPr algn="l">
              <a:lnSpc>
                <a:spcPct val="120000"/>
              </a:lnSpc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Tabular Dense Networks — fully-connected layer profiling</a:t>
            </a:r>
          </a:p>
          <a:p>
            <a:pPr algn="l">
              <a:lnSpc>
                <a:spcPct val="120000"/>
              </a:lnSpc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NLP Transformers (BERT/GPT variants) — embedding matrix inspection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663440"/>
            <a:ext cx="53035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Key Technical Differentiators: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Operates on raw tensor bytes — no execution of model code</a:t>
            </a:r>
          </a:p>
          <a:p>
            <a:pPr algn="l">
              <a:lnSpc>
                <a:spcPct val="120000"/>
              </a:lnSpc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Layer-type-aware profiling (separate baselines for Conv/Dense/Attn)</a:t>
            </a:r>
          </a:p>
          <a:p>
            <a:pPr algn="l">
              <a:lnSpc>
                <a:spcPct val="120000"/>
              </a:lnSpc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Format-agnostic extraction layer supports future weight formats</a:t>
            </a:r>
          </a:p>
          <a:p>
            <a:pPr algn="l">
              <a:lnSpc>
                <a:spcPct val="120000"/>
              </a:lnSpc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Single-pass analysis with O(n) complexity on parameter count</a:t>
            </a:r>
          </a:p>
          <a:p>
            <a:pPr algn="l">
              <a:lnSpc>
                <a:spcPct val="120000"/>
              </a:lnSpc>
              <a:defRPr sz="950" b="0">
                <a:solidFill>
                  <a:srgbClr val="A0AEC0"/>
                </a:solidFill>
                <a:latin typeface="Arial"/>
              </a:defRPr>
            </a:pPr>
            <a:r>
              <a:t>•  JSON/PDF report output for security team integration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6B7B93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Explainable Triage Output &amp; Hackathon Feasibility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21792"/>
            <a:ext cx="228600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6035040" cy="329184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F5D4"/>
                </a:solidFill>
                <a:latin typeface="Arial"/>
              </a:defRPr>
            </a:pPr>
            <a:r>
              <a:t>SAMPLE LAYER-WISE DIAGNOSTIC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B93"/>
                </a:solidFill>
                <a:latin typeface="Consolas"/>
              </a:defRPr>
            </a:pPr>
            <a: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3444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B93"/>
                </a:solidFill>
                <a:latin typeface="Consolas"/>
              </a:defRPr>
            </a:pPr>
            <a:r>
              <a:t>DType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3444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B93"/>
                </a:solidFill>
                <a:latin typeface="Consolas"/>
              </a:defRPr>
            </a:pPr>
            <a:r>
              <a:t>Entropy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23444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B93"/>
                </a:solidFill>
                <a:latin typeface="Consolas"/>
              </a:defRPr>
            </a:pPr>
            <a:r>
              <a:t>LSB χ²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23444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6B7B93"/>
                </a:solidFill>
                <a:latin typeface="Consolas"/>
              </a:defRPr>
            </a:pPr>
            <a:r>
              <a:t>Verdict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490472"/>
            <a:ext cx="5669280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536192"/>
            <a:ext cx="5760720" cy="274320"/>
          </a:xfrm>
          <a:prstGeom prst="rect">
            <a:avLst/>
          </a:prstGeom>
          <a:solidFill>
            <a:srgbClr val="2A0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layer4.2.conv2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55448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0AEC0"/>
                </a:solidFill>
                <a:latin typeface="Consolas"/>
              </a:defRPr>
            </a:pPr>
            <a:r>
              <a:t>Float32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55448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EF476F"/>
                </a:solidFill>
                <a:latin typeface="Consolas"/>
              </a:defRPr>
            </a:pPr>
            <a:r>
              <a:t>7.94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55448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EF476F"/>
                </a:solidFill>
                <a:latin typeface="Consolas"/>
              </a:defRPr>
            </a:pPr>
            <a:r>
              <a:t>p &lt; 0.001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57276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745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layer3.1.conv1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187452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0AEC0"/>
                </a:solidFill>
                <a:latin typeface="Consolas"/>
              </a:defRPr>
            </a:pPr>
            <a:r>
              <a:t>Float32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187452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FFBE0B"/>
                </a:solidFill>
                <a:latin typeface="Consolas"/>
              </a:defRPr>
            </a:pPr>
            <a:r>
              <a:t>6.82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187452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FFBE0B"/>
                </a:solidFill>
                <a:latin typeface="Consolas"/>
              </a:defRPr>
            </a:pPr>
            <a:r>
              <a:t>p = 0.003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189280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FFB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ELEVATED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19456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layer2.0.bn1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19456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0AEC0"/>
                </a:solidFill>
                <a:latin typeface="Consolas"/>
              </a:defRPr>
            </a:pPr>
            <a:r>
              <a:t>Float32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19456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A0AEC0"/>
                </a:solidFill>
                <a:latin typeface="Consolas"/>
              </a:defRPr>
            </a:pPr>
            <a:r>
              <a:t>4.51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219456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0AEC0"/>
                </a:solidFill>
                <a:latin typeface="Consolas"/>
              </a:defRPr>
            </a:pPr>
            <a:r>
              <a:t>p = 0.42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221284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BENIGN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51460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layer1.0.conv1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51460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0AEC0"/>
                </a:solidFill>
                <a:latin typeface="Consolas"/>
              </a:defRPr>
            </a:pPr>
            <a:r>
              <a:t>Float32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51460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A0AEC0"/>
                </a:solidFill>
                <a:latin typeface="Consolas"/>
              </a:defRPr>
            </a:pPr>
            <a:r>
              <a:t>4.12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251460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0AEC0"/>
                </a:solidFill>
                <a:latin typeface="Consolas"/>
              </a:defRPr>
            </a:pPr>
            <a:r>
              <a:t>p = 0.48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253288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BENIGN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83464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fc (classifier)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8346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0AEC0"/>
                </a:solidFill>
                <a:latin typeface="Consolas"/>
              </a:defRPr>
            </a:pPr>
            <a:r>
              <a:t>Float32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2834640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>
                <a:solidFill>
                  <a:srgbClr val="A0AEC0"/>
                </a:solidFill>
                <a:latin typeface="Consolas"/>
              </a:defRPr>
            </a:pPr>
            <a:r>
              <a:t>5.23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283464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A0AEC0"/>
                </a:solidFill>
                <a:latin typeface="Consolas"/>
              </a:defRPr>
            </a:pPr>
            <a:r>
              <a:t>p = 0.31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2852928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0B132B"/>
                </a:solidFill>
                <a:latin typeface="Arial"/>
              </a:defRPr>
            </a:pPr>
            <a:r>
              <a:t>BENIGN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200400"/>
            <a:ext cx="5760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0">
                <a:solidFill>
                  <a:srgbClr val="6B7B93"/>
                </a:solidFill>
                <a:latin typeface="Arial"/>
              </a:defRPr>
            </a:pPr>
            <a:r>
              <a:t>Analyst reads: layer4.2.conv2 shows near-maximum entropy (7.94/8.0 bits) with statistically significant non-random LSB patterns (χ² p &lt; 0.001) — consistent with steganographic payload embedding.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822960"/>
            <a:ext cx="5212080" cy="237744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91440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6D6A0"/>
                </a:solidFill>
                <a:latin typeface="Arial"/>
              </a:defRPr>
            </a:pPr>
            <a:r>
              <a:t>48-HOUR HACKATHON IMPLEMENTATION 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1143000"/>
            <a:ext cx="484632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8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Phase 1: 0–12h  |  Foundation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850" b="0">
                <a:solidFill>
                  <a:srgbClr val="A0AEC0"/>
                </a:solidFill>
                <a:latin typeface="Arial"/>
              </a:defRPr>
            </a:pPr>
            <a:r>
              <a:t>Model parser (safetensors/.pt/.onnx) &amp; LSB extraction engine</a:t>
            </a:r>
          </a:p>
          <a:p>
            <a:pPr algn="l">
              <a:lnSpc>
                <a:spcPct val="120000"/>
              </a:lnSpc>
              <a:defRPr sz="3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Phase 2: 12–28h  |  Detection Core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850" b="0">
                <a:solidFill>
                  <a:srgbClr val="A0AEC0"/>
                </a:solidFill>
                <a:latin typeface="Arial"/>
              </a:defRPr>
            </a:pPr>
            <a:r>
              <a:t>Statistical entropy &amp; χ² anomaly detector modules</a:t>
            </a:r>
          </a:p>
          <a:p>
            <a:pPr algn="l">
              <a:lnSpc>
                <a:spcPct val="120000"/>
              </a:lnSpc>
              <a:defRPr sz="3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Phase 3: 28–40h  |  Integration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850" b="0">
                <a:solidFill>
                  <a:srgbClr val="A0AEC0"/>
                </a:solidFill>
                <a:latin typeface="Arial"/>
              </a:defRPr>
            </a:pPr>
            <a:r>
              <a:t>Risk scoring engine &amp; Streamlit interactive analyst dashboard</a:t>
            </a:r>
          </a:p>
          <a:p>
            <a:pPr algn="l">
              <a:lnSpc>
                <a:spcPct val="120000"/>
              </a:lnSpc>
              <a:defRPr sz="3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4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Phase 4: 40–48h  |  Validation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850" b="0">
                <a:solidFill>
                  <a:srgbClr val="A0AEC0"/>
                </a:solidFill>
                <a:latin typeface="Arial"/>
              </a:defRPr>
            </a:pPr>
            <a:r>
              <a:t>Benchmark against EvilModel-injected test models + demo prep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3337560"/>
            <a:ext cx="5212080" cy="292608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342900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48CAE4"/>
                </a:solidFill>
                <a:latin typeface="Arial"/>
              </a:defRPr>
            </a:pPr>
            <a:r>
              <a:t>ACADEMIC GROUNDING &amp; REFERENCES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657600"/>
            <a:ext cx="484632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600"/>
              </a:spcBef>
              <a:defRPr sz="750" b="0">
                <a:solidFill>
                  <a:srgbClr val="A0AEC0"/>
                </a:solidFill>
                <a:latin typeface="Consolas"/>
              </a:defRPr>
            </a:pPr>
            <a:r>
              <a:t>[1] Wang et al., "EvilModel: Hiding Malware Inside of Neural</a:t>
            </a:r>
          </a:p>
          <a:p>
            <a:pPr algn="l">
              <a:lnSpc>
                <a:spcPct val="120000"/>
              </a:lnSpc>
              <a:defRPr sz="750" b="0">
                <a:solidFill>
                  <a:srgbClr val="A0AEC0"/>
                </a:solidFill>
                <a:latin typeface="Consolas"/>
              </a:defRPr>
            </a:pPr>
            <a:r>
              <a:t>     Network Models," IEEE S&amp;P, 2021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defRPr sz="750" b="0">
                <a:solidFill>
                  <a:srgbClr val="A0AEC0"/>
                </a:solidFill>
                <a:latin typeface="Consolas"/>
              </a:defRPr>
            </a:pPr>
            <a:r>
              <a:t>[2] Li et al., "Do You Trust Your Model? Emerging Malware</a:t>
            </a:r>
          </a:p>
          <a:p>
            <a:pPr algn="l">
              <a:lnSpc>
                <a:spcPct val="120000"/>
              </a:lnSpc>
              <a:defRPr sz="750" b="0">
                <a:solidFill>
                  <a:srgbClr val="A0AEC0"/>
                </a:solidFill>
                <a:latin typeface="Consolas"/>
              </a:defRPr>
            </a:pPr>
            <a:r>
              <a:t>     Threats in the DL Ecosystem," IEEE Access, 2023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defRPr sz="750" b="0">
                <a:solidFill>
                  <a:srgbClr val="A0AEC0"/>
                </a:solidFill>
                <a:latin typeface="Consolas"/>
              </a:defRPr>
            </a:pPr>
            <a:r>
              <a:t>[3] Chen et al., "StegoFL: Steganography &amp; Federated Learning</a:t>
            </a:r>
          </a:p>
          <a:p>
            <a:pPr algn="l">
              <a:lnSpc>
                <a:spcPct val="120000"/>
              </a:lnSpc>
              <a:defRPr sz="750" b="0">
                <a:solidFill>
                  <a:srgbClr val="A0AEC0"/>
                </a:solidFill>
                <a:latin typeface="Consolas"/>
              </a:defRPr>
            </a:pPr>
            <a:r>
              <a:t>     to Transmit Malware," 2024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defRPr sz="750" b="0">
                <a:solidFill>
                  <a:srgbClr val="A0AEC0"/>
                </a:solidFill>
                <a:latin typeface="Consolas"/>
              </a:defRPr>
            </a:pPr>
            <a:r>
              <a:t>[4] Goldstein et al., "Disarming Attacks Inside Neural Network</a:t>
            </a:r>
          </a:p>
          <a:p>
            <a:pPr algn="l">
              <a:lnSpc>
                <a:spcPct val="120000"/>
              </a:lnSpc>
              <a:defRPr sz="750" b="0">
                <a:solidFill>
                  <a:srgbClr val="A0AEC0"/>
                </a:solidFill>
                <a:latin typeface="Consolas"/>
              </a:defRPr>
            </a:pPr>
            <a:r>
              <a:t>     Models," 2022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defRPr sz="750" b="0">
                <a:solidFill>
                  <a:srgbClr val="A0AEC0"/>
                </a:solidFill>
                <a:latin typeface="Consolas"/>
              </a:defRPr>
            </a:pPr>
            <a:r>
              <a:t>[5] Zhao et al., "Toward Detecting Hidden Functionalities in</a:t>
            </a:r>
          </a:p>
          <a:p>
            <a:pPr algn="l">
              <a:lnSpc>
                <a:spcPct val="120000"/>
              </a:lnSpc>
              <a:defRPr sz="750" b="0">
                <a:solidFill>
                  <a:srgbClr val="A0AEC0"/>
                </a:solidFill>
                <a:latin typeface="Consolas"/>
              </a:defRPr>
            </a:pPr>
            <a:r>
              <a:t>     Deep Learning Models," IEEE TDSC, 2024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defRPr sz="750" b="0">
                <a:solidFill>
                  <a:srgbClr val="A0AEC0"/>
                </a:solidFill>
                <a:latin typeface="Consolas"/>
              </a:defRPr>
            </a:pPr>
            <a:r>
              <a:t>[6] Li et al., "Detection of Steganographic Malware Hidden</a:t>
            </a:r>
          </a:p>
          <a:p>
            <a:pPr algn="l">
              <a:lnSpc>
                <a:spcPct val="120000"/>
              </a:lnSpc>
              <a:defRPr sz="750" b="0">
                <a:solidFill>
                  <a:srgbClr val="A0AEC0"/>
                </a:solidFill>
                <a:latin typeface="Consolas"/>
              </a:defRPr>
            </a:pPr>
            <a:r>
              <a:t>     in AI Model Weights," ACM CCS, 2023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defRPr sz="750" b="0">
                <a:solidFill>
                  <a:srgbClr val="A0AEC0"/>
                </a:solidFill>
                <a:latin typeface="Consolas"/>
              </a:defRPr>
            </a:pPr>
            <a:r>
              <a:t>[7] Liu et al., "ReFHD-Net: A Reversible Functionality Hiding</a:t>
            </a:r>
          </a:p>
          <a:p>
            <a:pPr algn="l">
              <a:lnSpc>
                <a:spcPct val="120000"/>
              </a:lnSpc>
              <a:defRPr sz="750" b="0">
                <a:solidFill>
                  <a:srgbClr val="A0AEC0"/>
                </a:solidFill>
                <a:latin typeface="Consolas"/>
              </a:defRPr>
            </a:pPr>
            <a:r>
              <a:t>     Framework for DNNs," 2024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297680"/>
            <a:ext cx="6035040" cy="2286000"/>
          </a:xfrm>
          <a:prstGeom prst="roundRect">
            <a:avLst>
              <a:gd name="adj" fmla="val 2000"/>
            </a:avLst>
          </a:prstGeom>
          <a:solidFill>
            <a:srgbClr val="101A30"/>
          </a:solidFill>
          <a:ln w="1270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38912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1">
                <a:solidFill>
                  <a:srgbClr val="0077B6"/>
                </a:solidFill>
                <a:latin typeface="Arial"/>
              </a:defRPr>
            </a:pPr>
            <a:r>
              <a:t>UNIQUENESS &amp; INNOVATION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617720"/>
            <a:ext cx="5669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StegaGuard is NOVEL — no existing commercial or open-source tool</a:t>
            </a:r>
          </a:p>
          <a:p>
            <a:pPr algn="l">
              <a:lnSpc>
                <a:spcPct val="120000"/>
              </a:lnSpc>
              <a:defRPr sz="950" b="1">
                <a:solidFill>
                  <a:srgbClr val="FFFFFF"/>
                </a:solidFill>
                <a:latin typeface="Arial"/>
              </a:defRPr>
            </a:pPr>
            <a:r>
              <a:t>performs automated steganalysis of neural network weight tensors.</a:t>
            </a:r>
          </a:p>
          <a:p>
            <a:pPr algn="l">
              <a:lnSpc>
                <a:spcPct val="120000"/>
              </a:lnSpc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lnSpc>
                <a:spcPct val="120000"/>
              </a:lnSpc>
              <a:spcBef>
                <a:spcPts val="400"/>
              </a:spcBef>
              <a:defRPr sz="900" b="1">
                <a:solidFill>
                  <a:srgbClr val="A0AEC0"/>
                </a:solidFill>
                <a:latin typeface="Arial"/>
              </a:defRPr>
            </a:pPr>
            <a:r>
              <a:t>Improvement Over Prior Art: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defRPr sz="900" b="0">
                <a:solidFill>
                  <a:srgbClr val="A0AEC0"/>
                </a:solidFill>
                <a:latin typeface="Arial"/>
              </a:defRPr>
            </a:pPr>
            <a:r>
              <a:t>• EvilModel (2021) proved the ATTACK — we build the DEFENSE</a:t>
            </a:r>
          </a:p>
          <a:p>
            <a:pPr algn="l">
              <a:lnSpc>
                <a:spcPct val="120000"/>
              </a:lnSpc>
              <a:defRPr sz="900" b="0">
                <a:solidFill>
                  <a:srgbClr val="A0AEC0"/>
                </a:solidFill>
                <a:latin typeface="Arial"/>
              </a:defRPr>
            </a:pPr>
            <a:r>
              <a:t>• Fickling scans pickle bytecode — we scan mathematical weights</a:t>
            </a:r>
          </a:p>
          <a:p>
            <a:pPr algn="l">
              <a:lnSpc>
                <a:spcPct val="120000"/>
              </a:lnSpc>
              <a:defRPr sz="900" b="0">
                <a:solidFill>
                  <a:srgbClr val="A0AEC0"/>
                </a:solidFill>
                <a:latin typeface="Arial"/>
              </a:defRPr>
            </a:pPr>
            <a:r>
              <a:t>• Neural Cleanse needs retraining — we need ZERO training data</a:t>
            </a:r>
          </a:p>
          <a:p>
            <a:pPr algn="l">
              <a:lnSpc>
                <a:spcPct val="120000"/>
              </a:lnSpc>
              <a:defRPr sz="900" b="0">
                <a:solidFill>
                  <a:srgbClr val="A0AEC0"/>
                </a:solidFill>
                <a:latin typeface="Arial"/>
              </a:defRPr>
            </a:pPr>
            <a:r>
              <a:t>• First tool combining statistical + bit-plane + behavioral</a:t>
            </a:r>
          </a:p>
          <a:p>
            <a:pPr algn="l">
              <a:lnSpc>
                <a:spcPct val="120000"/>
              </a:lnSpc>
              <a:defRPr sz="900" b="0">
                <a:solidFill>
                  <a:srgbClr val="A0AEC0"/>
                </a:solidFill>
                <a:latin typeface="Arial"/>
              </a:defRPr>
            </a:pPr>
            <a:r>
              <a:t>  analysis in a single pre-deployment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900" b="0">
                <a:solidFill>
                  <a:srgbClr val="6B7B93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